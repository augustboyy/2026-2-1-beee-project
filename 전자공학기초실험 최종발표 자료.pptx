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Noto Sans KR" panose="020B0200000000000000" pitchFamily="50" charset="-127"/>
      <p:regular r:id="rId10"/>
      <p:bold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7:02:19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24445,'8102'-29'0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7:02:28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24352,'8008'-26'0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7:05:44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7:05:54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24538,'0'15536'0,"1968"-15536"0,-1968-15536 0,-1968 15536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99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1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24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6.png"/><Relationship Id="rId5" Type="http://schemas.openxmlformats.org/officeDocument/2006/relationships/image" Target="../media/image72.jpg"/><Relationship Id="rId10" Type="http://schemas.openxmlformats.org/officeDocument/2006/relationships/customXml" Target="../ink/ink2.xml"/><Relationship Id="rId4" Type="http://schemas.openxmlformats.org/officeDocument/2006/relationships/image" Target="../media/image24.png"/><Relationship Id="rId9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g"/><Relationship Id="rId13" Type="http://schemas.openxmlformats.org/officeDocument/2006/relationships/image" Target="../media/image7.jp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customXml" Target="../ink/ink4.xml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49.png"/><Relationship Id="rId9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6769" y="-269677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900" y="3890962"/>
            <a:ext cx="5753100" cy="1590675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2" y="4281488"/>
            <a:ext cx="1143000" cy="276225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2" y="4729163"/>
            <a:ext cx="1143000" cy="276225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02" y="5179968"/>
            <a:ext cx="1171575" cy="377870"/>
          </a:xfrm>
          <a:prstGeom prst="rect">
            <a:avLst/>
          </a:prstGeom>
        </p:spPr>
      </p:pic>
      <p:sp>
        <p:nvSpPr>
          <p:cNvPr id="10" name="SK-1-text-9"/>
          <p:cNvSpPr/>
          <p:nvPr/>
        </p:nvSpPr>
        <p:spPr>
          <a:xfrm>
            <a:off x="5676900" y="1376363"/>
            <a:ext cx="59436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18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SMART GARDENING PROJECT</a:t>
            </a:r>
            <a:endParaRPr lang="en-US" sz="1500" dirty="0"/>
          </a:p>
        </p:txBody>
      </p:sp>
      <p:sp>
        <p:nvSpPr>
          <p:cNvPr id="11" name="SK-1-text-10"/>
          <p:cNvSpPr/>
          <p:nvPr/>
        </p:nvSpPr>
        <p:spPr>
          <a:xfrm>
            <a:off x="5676900" y="1776413"/>
            <a:ext cx="65151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스마트 원예 시스템</a:t>
            </a:r>
            <a:endParaRPr lang="en-US" sz="4500" dirty="0"/>
          </a:p>
        </p:txBody>
      </p:sp>
      <p:sp>
        <p:nvSpPr>
          <p:cNvPr id="12" name="SK-1-text-11"/>
          <p:cNvSpPr/>
          <p:nvPr/>
        </p:nvSpPr>
        <p:spPr>
          <a:xfrm>
            <a:off x="5676900" y="2481263"/>
            <a:ext cx="6515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kern="0" spc="-19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Arduino + Rasberry Pi (YOLO&amp;LLM)</a:t>
            </a:r>
            <a:endParaRPr lang="en-US" sz="2400" dirty="0"/>
          </a:p>
        </p:txBody>
      </p:sp>
      <p:sp>
        <p:nvSpPr>
          <p:cNvPr id="13" name="SK-1-text-12"/>
          <p:cNvSpPr/>
          <p:nvPr/>
        </p:nvSpPr>
        <p:spPr>
          <a:xfrm>
            <a:off x="5676900" y="4271963"/>
            <a:ext cx="9144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 / AI</a:t>
            </a:r>
            <a:endParaRPr lang="en-US" sz="1050" dirty="0"/>
          </a:p>
        </p:txBody>
      </p:sp>
      <p:sp>
        <p:nvSpPr>
          <p:cNvPr id="14" name="SK-1-text-13"/>
          <p:cNvSpPr/>
          <p:nvPr/>
        </p:nvSpPr>
        <p:spPr>
          <a:xfrm>
            <a:off x="6972300" y="4281488"/>
            <a:ext cx="6172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남기현</a:t>
            </a:r>
            <a:endParaRPr lang="en-US" sz="1350" dirty="0"/>
          </a:p>
        </p:txBody>
      </p:sp>
      <p:sp>
        <p:nvSpPr>
          <p:cNvPr id="15" name="SK-1-text-14"/>
          <p:cNvSpPr/>
          <p:nvPr/>
        </p:nvSpPr>
        <p:spPr>
          <a:xfrm>
            <a:off x="5676900" y="4738688"/>
            <a:ext cx="9144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/ DB</a:t>
            </a:r>
            <a:endParaRPr lang="en-US" sz="1050" dirty="0"/>
          </a:p>
        </p:txBody>
      </p:sp>
      <p:sp>
        <p:nvSpPr>
          <p:cNvPr id="16" name="SK-1-text-15"/>
          <p:cNvSpPr/>
          <p:nvPr/>
        </p:nvSpPr>
        <p:spPr>
          <a:xfrm>
            <a:off x="6972300" y="4748213"/>
            <a:ext cx="6172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이재윤</a:t>
            </a:r>
            <a:endParaRPr lang="en-US" sz="1350" dirty="0"/>
          </a:p>
        </p:txBody>
      </p:sp>
      <p:sp>
        <p:nvSpPr>
          <p:cNvPr id="17" name="SK-1-text-16"/>
          <p:cNvSpPr/>
          <p:nvPr/>
        </p:nvSpPr>
        <p:spPr>
          <a:xfrm>
            <a:off x="5562601" y="5214937"/>
            <a:ext cx="1171575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 Control</a:t>
            </a:r>
            <a:endParaRPr lang="en-US" sz="1050" dirty="0"/>
          </a:p>
        </p:txBody>
      </p:sp>
      <p:sp>
        <p:nvSpPr>
          <p:cNvPr id="18" name="SK-1-text-17"/>
          <p:cNvSpPr/>
          <p:nvPr/>
        </p:nvSpPr>
        <p:spPr>
          <a:xfrm>
            <a:off x="6972300" y="5224461"/>
            <a:ext cx="6172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양승준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93668-8743-D634-04DE-0F83354DA6A9}"/>
              </a:ext>
            </a:extLst>
          </p:cNvPr>
          <p:cNvSpPr txBox="1"/>
          <p:nvPr/>
        </p:nvSpPr>
        <p:spPr>
          <a:xfrm>
            <a:off x="7934036" y="6434435"/>
            <a:ext cx="4257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https://github.com/augustboyy/2026-2-1-BEEE-Project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37502B-46EF-F315-48B8-B187E1B37D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5492" y="4160043"/>
            <a:ext cx="1709739" cy="170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34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942975"/>
            <a:ext cx="38100" cy="38100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814513"/>
            <a:ext cx="10439400" cy="890588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128838"/>
            <a:ext cx="533400" cy="261937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0" y="2155031"/>
            <a:ext cx="266700" cy="209550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0" y="2309813"/>
            <a:ext cx="1457325" cy="223838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2876550"/>
            <a:ext cx="10439400" cy="890588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" y="3190875"/>
            <a:ext cx="533400" cy="261937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0" y="3217069"/>
            <a:ext cx="266700" cy="20955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8900" y="3371850"/>
            <a:ext cx="1657350" cy="223838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" y="3938588"/>
            <a:ext cx="10439400" cy="890588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4252913"/>
            <a:ext cx="533400" cy="261937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4279106"/>
            <a:ext cx="266700" cy="20955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28900" y="4433888"/>
            <a:ext cx="1733550" cy="223838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" y="5000625"/>
            <a:ext cx="10439400" cy="890588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" y="5314950"/>
            <a:ext cx="533400" cy="261937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500" y="5341144"/>
            <a:ext cx="266700" cy="209550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28900" y="5495925"/>
            <a:ext cx="1257300" cy="223838"/>
          </a:xfrm>
          <a:prstGeom prst="rect">
            <a:avLst/>
          </a:prstGeom>
        </p:spPr>
      </p:pic>
      <p:sp>
        <p:nvSpPr>
          <p:cNvPr id="21" name="SK-2-text-20"/>
          <p:cNvSpPr/>
          <p:nvPr/>
        </p:nvSpPr>
        <p:spPr>
          <a:xfrm>
            <a:off x="990600" y="533400"/>
            <a:ext cx="104394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14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975" dirty="0"/>
          </a:p>
        </p:txBody>
      </p:sp>
      <p:sp>
        <p:nvSpPr>
          <p:cNvPr id="22" name="SK-2-text-21"/>
          <p:cNvSpPr/>
          <p:nvPr/>
        </p:nvSpPr>
        <p:spPr>
          <a:xfrm>
            <a:off x="1162050" y="833438"/>
            <a:ext cx="144018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725"/>
              </a:lnSpc>
              <a:buNone/>
            </a:pPr>
            <a:r>
              <a:rPr lang="en-US" sz="3150" b="1" kern="0" spc="-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차</a:t>
            </a:r>
            <a:endParaRPr lang="en-US" sz="3150" dirty="0"/>
          </a:p>
        </p:txBody>
      </p:sp>
      <p:sp>
        <p:nvSpPr>
          <p:cNvPr id="23" name="SK-2-text-22"/>
          <p:cNvSpPr/>
          <p:nvPr/>
        </p:nvSpPr>
        <p:spPr>
          <a:xfrm>
            <a:off x="1295400" y="2128838"/>
            <a:ext cx="3048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75" dirty="0"/>
          </a:p>
        </p:txBody>
      </p:sp>
      <p:sp>
        <p:nvSpPr>
          <p:cNvPr id="24" name="SK-2-text-23"/>
          <p:cNvSpPr/>
          <p:nvPr/>
        </p:nvSpPr>
        <p:spPr>
          <a:xfrm>
            <a:off x="2628900" y="1985963"/>
            <a:ext cx="7867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25" name="SK-2-text-24"/>
          <p:cNvSpPr/>
          <p:nvPr/>
        </p:nvSpPr>
        <p:spPr>
          <a:xfrm>
            <a:off x="2724150" y="2309813"/>
            <a:ext cx="2066664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975" dirty="0"/>
          </a:p>
        </p:txBody>
      </p:sp>
      <p:sp>
        <p:nvSpPr>
          <p:cNvPr id="26" name="SK-2-text-25"/>
          <p:cNvSpPr/>
          <p:nvPr/>
        </p:nvSpPr>
        <p:spPr>
          <a:xfrm>
            <a:off x="10763250" y="2152650"/>
            <a:ext cx="1085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 03</a:t>
            </a:r>
            <a:endParaRPr lang="en-US" sz="1125" dirty="0"/>
          </a:p>
        </p:txBody>
      </p:sp>
      <p:sp>
        <p:nvSpPr>
          <p:cNvPr id="27" name="SK-2-text-26"/>
          <p:cNvSpPr/>
          <p:nvPr/>
        </p:nvSpPr>
        <p:spPr>
          <a:xfrm>
            <a:off x="1295400" y="3190875"/>
            <a:ext cx="3048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75" dirty="0"/>
          </a:p>
        </p:txBody>
      </p:sp>
      <p:sp>
        <p:nvSpPr>
          <p:cNvPr id="28" name="SK-2-text-27"/>
          <p:cNvSpPr/>
          <p:nvPr/>
        </p:nvSpPr>
        <p:spPr>
          <a:xfrm>
            <a:off x="2628900" y="3048000"/>
            <a:ext cx="7867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발전 방향</a:t>
            </a:r>
            <a:endParaRPr lang="en-US" sz="1500" dirty="0"/>
          </a:p>
        </p:txBody>
      </p:sp>
      <p:sp>
        <p:nvSpPr>
          <p:cNvPr id="29" name="SK-2-text-28"/>
          <p:cNvSpPr/>
          <p:nvPr/>
        </p:nvSpPr>
        <p:spPr>
          <a:xfrm>
            <a:off x="2724150" y="3371850"/>
            <a:ext cx="2367192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DEVELOPMENT</a:t>
            </a:r>
            <a:endParaRPr lang="en-US" sz="975" dirty="0"/>
          </a:p>
        </p:txBody>
      </p:sp>
      <p:sp>
        <p:nvSpPr>
          <p:cNvPr id="30" name="SK-2-text-29"/>
          <p:cNvSpPr/>
          <p:nvPr/>
        </p:nvSpPr>
        <p:spPr>
          <a:xfrm>
            <a:off x="10763250" y="3214688"/>
            <a:ext cx="1085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 04</a:t>
            </a:r>
            <a:endParaRPr lang="en-US" sz="1125" dirty="0"/>
          </a:p>
        </p:txBody>
      </p:sp>
      <p:sp>
        <p:nvSpPr>
          <p:cNvPr id="31" name="SK-2-text-30"/>
          <p:cNvSpPr/>
          <p:nvPr/>
        </p:nvSpPr>
        <p:spPr>
          <a:xfrm>
            <a:off x="1295400" y="4252913"/>
            <a:ext cx="3048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75" dirty="0"/>
          </a:p>
        </p:txBody>
      </p:sp>
      <p:sp>
        <p:nvSpPr>
          <p:cNvPr id="32" name="SK-2-text-31"/>
          <p:cNvSpPr/>
          <p:nvPr/>
        </p:nvSpPr>
        <p:spPr>
          <a:xfrm>
            <a:off x="2628900" y="4110038"/>
            <a:ext cx="78771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차후 개선점</a:t>
            </a:r>
            <a:endParaRPr lang="en-US" sz="1500" dirty="0"/>
          </a:p>
        </p:txBody>
      </p:sp>
      <p:sp>
        <p:nvSpPr>
          <p:cNvPr id="33" name="SK-2-text-32"/>
          <p:cNvSpPr/>
          <p:nvPr/>
        </p:nvSpPr>
        <p:spPr>
          <a:xfrm>
            <a:off x="2724150" y="4433888"/>
            <a:ext cx="2512967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IMPROVEMENTS</a:t>
            </a:r>
            <a:endParaRPr lang="en-US" sz="975" dirty="0"/>
          </a:p>
        </p:txBody>
      </p:sp>
      <p:sp>
        <p:nvSpPr>
          <p:cNvPr id="34" name="SK-2-text-33"/>
          <p:cNvSpPr/>
          <p:nvPr/>
        </p:nvSpPr>
        <p:spPr>
          <a:xfrm>
            <a:off x="10772775" y="4276725"/>
            <a:ext cx="1085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 05</a:t>
            </a:r>
            <a:endParaRPr lang="en-US" sz="1125" dirty="0"/>
          </a:p>
        </p:txBody>
      </p:sp>
      <p:sp>
        <p:nvSpPr>
          <p:cNvPr id="35" name="SK-2-text-34"/>
          <p:cNvSpPr/>
          <p:nvPr/>
        </p:nvSpPr>
        <p:spPr>
          <a:xfrm>
            <a:off x="1295400" y="5314950"/>
            <a:ext cx="3048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75" dirty="0"/>
          </a:p>
        </p:txBody>
      </p:sp>
      <p:sp>
        <p:nvSpPr>
          <p:cNvPr id="36" name="SK-2-text-35"/>
          <p:cNvSpPr/>
          <p:nvPr/>
        </p:nvSpPr>
        <p:spPr>
          <a:xfrm>
            <a:off x="2628900" y="5172075"/>
            <a:ext cx="75438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24H Beta Test</a:t>
            </a:r>
            <a:endParaRPr lang="en-US" sz="1500" dirty="0"/>
          </a:p>
        </p:txBody>
      </p:sp>
      <p:sp>
        <p:nvSpPr>
          <p:cNvPr id="37" name="SK-2-text-36"/>
          <p:cNvSpPr/>
          <p:nvPr/>
        </p:nvSpPr>
        <p:spPr>
          <a:xfrm>
            <a:off x="2724150" y="5495925"/>
            <a:ext cx="1638993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PHOTOS</a:t>
            </a:r>
            <a:endParaRPr lang="en-US" sz="975" dirty="0"/>
          </a:p>
        </p:txBody>
      </p:sp>
      <p:sp>
        <p:nvSpPr>
          <p:cNvPr id="38" name="SK-2-text-37"/>
          <p:cNvSpPr/>
          <p:nvPr/>
        </p:nvSpPr>
        <p:spPr>
          <a:xfrm>
            <a:off x="10439400" y="5338763"/>
            <a:ext cx="1752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 06 - 07</a:t>
            </a:r>
            <a:endParaRPr lang="en-US" sz="1125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87B1463-B09D-3F1C-F9CD-45810236B75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35584" y="193241"/>
            <a:ext cx="1494416" cy="14944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6725"/>
            <a:ext cx="38100" cy="3429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2575"/>
            <a:ext cx="3530501" cy="2347913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81175"/>
            <a:ext cx="714375" cy="2762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0026" y="1781175"/>
            <a:ext cx="333375" cy="26670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652713"/>
            <a:ext cx="38100" cy="381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928938"/>
            <a:ext cx="38100" cy="381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601" y="1552575"/>
            <a:ext cx="3530650" cy="234791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201" y="1781175"/>
            <a:ext cx="742950" cy="276225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9275" y="1781175"/>
            <a:ext cx="333375" cy="26670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201" y="2652713"/>
            <a:ext cx="38100" cy="381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201" y="2928938"/>
            <a:ext cx="38100" cy="381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850" y="1552575"/>
            <a:ext cx="3530501" cy="2347913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450" y="1781175"/>
            <a:ext cx="742950" cy="276225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58376" y="1781175"/>
            <a:ext cx="333375" cy="266700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450" y="2652713"/>
            <a:ext cx="38100" cy="381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450" y="2928938"/>
            <a:ext cx="38100" cy="38100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129088"/>
            <a:ext cx="3530501" cy="2347913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357688"/>
            <a:ext cx="752475" cy="276225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40026" y="4357688"/>
            <a:ext cx="333375" cy="266700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229225"/>
            <a:ext cx="38100" cy="3810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505450"/>
            <a:ext cx="38100" cy="3810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30601" y="4129088"/>
            <a:ext cx="3530650" cy="2347913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9201" y="4357688"/>
            <a:ext cx="742950" cy="276225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99275" y="4357688"/>
            <a:ext cx="333375" cy="266700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59201" y="5229225"/>
            <a:ext cx="38100" cy="38100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59201" y="5505450"/>
            <a:ext cx="38100" cy="3810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89850" y="4129088"/>
            <a:ext cx="3530501" cy="2347913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18450" y="4357688"/>
            <a:ext cx="742950" cy="276225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058376" y="4357688"/>
            <a:ext cx="333375" cy="266700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18450" y="5229225"/>
            <a:ext cx="38100" cy="38100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18450" y="5505450"/>
            <a:ext cx="38100" cy="38100"/>
          </a:xfrm>
          <a:prstGeom prst="rect">
            <a:avLst/>
          </a:prstGeom>
        </p:spPr>
      </p:pic>
      <p:sp>
        <p:nvSpPr>
          <p:cNvPr id="34" name="SK-3-text-33"/>
          <p:cNvSpPr/>
          <p:nvPr/>
        </p:nvSpPr>
        <p:spPr>
          <a:xfrm>
            <a:off x="723900" y="381000"/>
            <a:ext cx="61722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동작 흐름</a:t>
            </a:r>
            <a:endParaRPr lang="en-US" sz="2700" dirty="0"/>
          </a:p>
        </p:txBody>
      </p:sp>
      <p:sp>
        <p:nvSpPr>
          <p:cNvPr id="36" name="SK-3-text-35"/>
          <p:cNvSpPr/>
          <p:nvPr/>
        </p:nvSpPr>
        <p:spPr>
          <a:xfrm>
            <a:off x="895350" y="1781175"/>
            <a:ext cx="9779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050" dirty="0"/>
          </a:p>
        </p:txBody>
      </p:sp>
      <p:sp>
        <p:nvSpPr>
          <p:cNvPr id="37" name="SK-3-text-36"/>
          <p:cNvSpPr/>
          <p:nvPr/>
        </p:nvSpPr>
        <p:spPr>
          <a:xfrm>
            <a:off x="800100" y="2209800"/>
            <a:ext cx="30733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38" name="SK-3-text-37"/>
          <p:cNvSpPr/>
          <p:nvPr/>
        </p:nvSpPr>
        <p:spPr>
          <a:xfrm>
            <a:off x="914400" y="2571750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토양 습도/온도 센서 데이터</a:t>
            </a:r>
            <a:endParaRPr lang="en-US" sz="1125" dirty="0"/>
          </a:p>
        </p:txBody>
      </p:sp>
      <p:sp>
        <p:nvSpPr>
          <p:cNvPr id="39" name="SK-3-text-38"/>
          <p:cNvSpPr/>
          <p:nvPr/>
        </p:nvSpPr>
        <p:spPr>
          <a:xfrm>
            <a:off x="914400" y="2847975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카메라 이미지 촬영</a:t>
            </a:r>
            <a:endParaRPr lang="en-US" sz="1125" dirty="0"/>
          </a:p>
        </p:txBody>
      </p:sp>
      <p:sp>
        <p:nvSpPr>
          <p:cNvPr id="40" name="SK-3-textBg-39"/>
          <p:cNvSpPr/>
          <p:nvPr/>
        </p:nvSpPr>
        <p:spPr>
          <a:xfrm>
            <a:off x="800100" y="3124200"/>
            <a:ext cx="131445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K-3-text-40"/>
          <p:cNvSpPr/>
          <p:nvPr/>
        </p:nvSpPr>
        <p:spPr>
          <a:xfrm>
            <a:off x="885825" y="3124200"/>
            <a:ext cx="20613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IOT SENSORS / CAM</a:t>
            </a:r>
            <a:endParaRPr lang="en-US" sz="900" dirty="0"/>
          </a:p>
        </p:txBody>
      </p:sp>
      <p:sp>
        <p:nvSpPr>
          <p:cNvPr id="42" name="SK-3-text-41"/>
          <p:cNvSpPr/>
          <p:nvPr/>
        </p:nvSpPr>
        <p:spPr>
          <a:xfrm>
            <a:off x="4654451" y="1781175"/>
            <a:ext cx="99157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050" dirty="0"/>
          </a:p>
        </p:txBody>
      </p:sp>
      <p:sp>
        <p:nvSpPr>
          <p:cNvPr id="43" name="SK-3-text-42"/>
          <p:cNvSpPr/>
          <p:nvPr/>
        </p:nvSpPr>
        <p:spPr>
          <a:xfrm>
            <a:off x="4559201" y="2209800"/>
            <a:ext cx="3073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처리</a:t>
            </a:r>
            <a:endParaRPr lang="en-US" sz="1500" dirty="0"/>
          </a:p>
        </p:txBody>
      </p:sp>
      <p:sp>
        <p:nvSpPr>
          <p:cNvPr id="44" name="SK-3-text-43"/>
          <p:cNvSpPr/>
          <p:nvPr/>
        </p:nvSpPr>
        <p:spPr>
          <a:xfrm>
            <a:off x="4673501" y="2571750"/>
            <a:ext cx="3073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아두이노: 독립적 자동 급수</a:t>
            </a:r>
            <a:endParaRPr lang="en-US" sz="1125" dirty="0"/>
          </a:p>
        </p:txBody>
      </p:sp>
      <p:sp>
        <p:nvSpPr>
          <p:cNvPr id="45" name="SK-3-text-44"/>
          <p:cNvSpPr/>
          <p:nvPr/>
        </p:nvSpPr>
        <p:spPr>
          <a:xfrm>
            <a:off x="4673501" y="2847975"/>
            <a:ext cx="3073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라즈베리파이: 시리얼 통신 제어</a:t>
            </a:r>
            <a:endParaRPr lang="en-US" sz="1125" dirty="0"/>
          </a:p>
        </p:txBody>
      </p:sp>
      <p:sp>
        <p:nvSpPr>
          <p:cNvPr id="46" name="SK-3-textBg-45"/>
          <p:cNvSpPr/>
          <p:nvPr/>
        </p:nvSpPr>
        <p:spPr>
          <a:xfrm>
            <a:off x="4559201" y="3124200"/>
            <a:ext cx="163830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K-3-text-46"/>
          <p:cNvSpPr/>
          <p:nvPr/>
        </p:nvSpPr>
        <p:spPr>
          <a:xfrm>
            <a:off x="4644926" y="3124200"/>
            <a:ext cx="2736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ARDUINO / RASPBERRY PI</a:t>
            </a:r>
            <a:endParaRPr lang="en-US" sz="900" dirty="0"/>
          </a:p>
        </p:txBody>
      </p:sp>
      <p:sp>
        <p:nvSpPr>
          <p:cNvPr id="48" name="SK-3-text-47"/>
          <p:cNvSpPr/>
          <p:nvPr/>
        </p:nvSpPr>
        <p:spPr>
          <a:xfrm>
            <a:off x="8413700" y="1781175"/>
            <a:ext cx="99157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050" dirty="0"/>
          </a:p>
        </p:txBody>
      </p:sp>
      <p:sp>
        <p:nvSpPr>
          <p:cNvPr id="49" name="SK-3-text-48"/>
          <p:cNvSpPr/>
          <p:nvPr/>
        </p:nvSpPr>
        <p:spPr>
          <a:xfrm>
            <a:off x="8318450" y="2209800"/>
            <a:ext cx="30733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AI 분석</a:t>
            </a:r>
            <a:endParaRPr lang="en-US" sz="1500" dirty="0"/>
          </a:p>
        </p:txBody>
      </p:sp>
      <p:sp>
        <p:nvSpPr>
          <p:cNvPr id="50" name="SK-3-text-49"/>
          <p:cNvSpPr/>
          <p:nvPr/>
        </p:nvSpPr>
        <p:spPr>
          <a:xfrm>
            <a:off x="8432750" y="2571750"/>
            <a:ext cx="3086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YOLO/ONNX 경량 모델 실행</a:t>
            </a:r>
            <a:endParaRPr lang="en-US" sz="1125" dirty="0"/>
          </a:p>
        </p:txBody>
      </p:sp>
      <p:sp>
        <p:nvSpPr>
          <p:cNvPr id="51" name="SK-3-text-50"/>
          <p:cNvSpPr/>
          <p:nvPr/>
        </p:nvSpPr>
        <p:spPr>
          <a:xfrm>
            <a:off x="8432750" y="2847975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잎 개수 및 황화 비율 계산</a:t>
            </a:r>
            <a:endParaRPr lang="en-US" sz="1125" dirty="0"/>
          </a:p>
        </p:txBody>
      </p:sp>
      <p:sp>
        <p:nvSpPr>
          <p:cNvPr id="52" name="SK-3-textBg-51"/>
          <p:cNvSpPr/>
          <p:nvPr/>
        </p:nvSpPr>
        <p:spPr>
          <a:xfrm>
            <a:off x="8318450" y="3124200"/>
            <a:ext cx="163830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K-3-text-52"/>
          <p:cNvSpPr/>
          <p:nvPr/>
        </p:nvSpPr>
        <p:spPr>
          <a:xfrm>
            <a:off x="8404175" y="3124200"/>
            <a:ext cx="26953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YOLOv8 / ONNX RUNTIME</a:t>
            </a:r>
            <a:endParaRPr lang="en-US" sz="900" dirty="0"/>
          </a:p>
        </p:txBody>
      </p:sp>
      <p:sp>
        <p:nvSpPr>
          <p:cNvPr id="54" name="SK-3-text-53"/>
          <p:cNvSpPr/>
          <p:nvPr/>
        </p:nvSpPr>
        <p:spPr>
          <a:xfrm>
            <a:off x="895350" y="4357688"/>
            <a:ext cx="995905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050" dirty="0"/>
          </a:p>
        </p:txBody>
      </p:sp>
      <p:sp>
        <p:nvSpPr>
          <p:cNvPr id="55" name="SK-3-text-54"/>
          <p:cNvSpPr/>
          <p:nvPr/>
        </p:nvSpPr>
        <p:spPr>
          <a:xfrm>
            <a:off x="800100" y="4786313"/>
            <a:ext cx="30733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정밀 진단</a:t>
            </a:r>
            <a:endParaRPr lang="en-US" sz="1500" dirty="0"/>
          </a:p>
        </p:txBody>
      </p:sp>
      <p:sp>
        <p:nvSpPr>
          <p:cNvPr id="56" name="SK-3-text-55"/>
          <p:cNvSpPr/>
          <p:nvPr/>
        </p:nvSpPr>
        <p:spPr>
          <a:xfrm>
            <a:off x="914400" y="5148263"/>
            <a:ext cx="3086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API 멀티모달 분석</a:t>
            </a:r>
            <a:endParaRPr lang="en-US" sz="1125" dirty="0"/>
          </a:p>
        </p:txBody>
      </p:sp>
      <p:sp>
        <p:nvSpPr>
          <p:cNvPr id="57" name="SK-3-text-56"/>
          <p:cNvSpPr/>
          <p:nvPr/>
        </p:nvSpPr>
        <p:spPr>
          <a:xfrm>
            <a:off x="914400" y="5424488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발생 시 정밀 진단</a:t>
            </a:r>
            <a:endParaRPr lang="en-US" sz="1125" dirty="0"/>
          </a:p>
        </p:txBody>
      </p:sp>
      <p:sp>
        <p:nvSpPr>
          <p:cNvPr id="58" name="SK-3-textBg-57"/>
          <p:cNvSpPr/>
          <p:nvPr/>
        </p:nvSpPr>
        <p:spPr>
          <a:xfrm>
            <a:off x="800100" y="5700713"/>
            <a:ext cx="121920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K-3-text-58"/>
          <p:cNvSpPr/>
          <p:nvPr/>
        </p:nvSpPr>
        <p:spPr>
          <a:xfrm>
            <a:off x="885825" y="5700713"/>
            <a:ext cx="192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 AI</a:t>
            </a:r>
            <a:endParaRPr lang="en-US" sz="900" dirty="0"/>
          </a:p>
        </p:txBody>
      </p:sp>
      <p:sp>
        <p:nvSpPr>
          <p:cNvPr id="60" name="SK-3-text-59"/>
          <p:cNvSpPr/>
          <p:nvPr/>
        </p:nvSpPr>
        <p:spPr>
          <a:xfrm>
            <a:off x="4654451" y="4357688"/>
            <a:ext cx="99157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050" dirty="0"/>
          </a:p>
        </p:txBody>
      </p:sp>
      <p:sp>
        <p:nvSpPr>
          <p:cNvPr id="61" name="SK-3-text-60"/>
          <p:cNvSpPr/>
          <p:nvPr/>
        </p:nvSpPr>
        <p:spPr>
          <a:xfrm>
            <a:off x="4559201" y="4786313"/>
            <a:ext cx="3073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및 시각화</a:t>
            </a:r>
            <a:endParaRPr lang="en-US" sz="1500" dirty="0"/>
          </a:p>
        </p:txBody>
      </p:sp>
      <p:sp>
        <p:nvSpPr>
          <p:cNvPr id="62" name="SK-3-text-61"/>
          <p:cNvSpPr/>
          <p:nvPr/>
        </p:nvSpPr>
        <p:spPr>
          <a:xfrm>
            <a:off x="4673501" y="5148263"/>
            <a:ext cx="3073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기반 데이터 가공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4673501" y="5424488"/>
            <a:ext cx="30734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대시보드 조회</a:t>
            </a:r>
            <a:endParaRPr lang="en-US" sz="1125" dirty="0"/>
          </a:p>
        </p:txBody>
      </p:sp>
      <p:sp>
        <p:nvSpPr>
          <p:cNvPr id="64" name="SK-3-textBg-63"/>
          <p:cNvSpPr/>
          <p:nvPr/>
        </p:nvSpPr>
        <p:spPr>
          <a:xfrm>
            <a:off x="4559201" y="5700713"/>
            <a:ext cx="133350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K-3-text-64"/>
          <p:cNvSpPr/>
          <p:nvPr/>
        </p:nvSpPr>
        <p:spPr>
          <a:xfrm>
            <a:off x="4644926" y="5700713"/>
            <a:ext cx="21867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 / STREAMLIT</a:t>
            </a:r>
            <a:endParaRPr lang="en-US" sz="900" dirty="0"/>
          </a:p>
        </p:txBody>
      </p:sp>
      <p:sp>
        <p:nvSpPr>
          <p:cNvPr id="66" name="SK-3-text-65"/>
          <p:cNvSpPr/>
          <p:nvPr/>
        </p:nvSpPr>
        <p:spPr>
          <a:xfrm>
            <a:off x="8413700" y="4357688"/>
            <a:ext cx="99157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06</a:t>
            </a:r>
            <a:endParaRPr lang="en-US" sz="1050" dirty="0"/>
          </a:p>
        </p:txBody>
      </p:sp>
      <p:sp>
        <p:nvSpPr>
          <p:cNvPr id="67" name="SK-3-text-66"/>
          <p:cNvSpPr/>
          <p:nvPr/>
        </p:nvSpPr>
        <p:spPr>
          <a:xfrm>
            <a:off x="8318450" y="4786313"/>
            <a:ext cx="30733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키오스크 인터페이스</a:t>
            </a:r>
            <a:endParaRPr lang="en-US" sz="1500" dirty="0"/>
          </a:p>
        </p:txBody>
      </p:sp>
      <p:sp>
        <p:nvSpPr>
          <p:cNvPr id="68" name="SK-3-text-67"/>
          <p:cNvSpPr/>
          <p:nvPr/>
        </p:nvSpPr>
        <p:spPr>
          <a:xfrm>
            <a:off x="8432750" y="5148263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7인치 터치 디스플레이 정보</a:t>
            </a:r>
            <a:endParaRPr lang="en-US" sz="1125" dirty="0"/>
          </a:p>
        </p:txBody>
      </p:sp>
      <p:sp>
        <p:nvSpPr>
          <p:cNvPr id="69" name="SK-3-text-68"/>
          <p:cNvSpPr/>
          <p:nvPr/>
        </p:nvSpPr>
        <p:spPr>
          <a:xfrm>
            <a:off x="8432750" y="5424488"/>
            <a:ext cx="307330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식물 상태 Q&amp;A 지원</a:t>
            </a:r>
            <a:endParaRPr lang="en-US" sz="1125" dirty="0"/>
          </a:p>
        </p:txBody>
      </p:sp>
      <p:sp>
        <p:nvSpPr>
          <p:cNvPr id="70" name="SK-3-textBg-69"/>
          <p:cNvSpPr/>
          <p:nvPr/>
        </p:nvSpPr>
        <p:spPr>
          <a:xfrm>
            <a:off x="8318450" y="5700713"/>
            <a:ext cx="1257300" cy="228600"/>
          </a:xfrm>
          <a:prstGeom prst="roundRect">
            <a:avLst>
              <a:gd name="adj" fmla="val 16667"/>
            </a:avLst>
          </a:prstGeom>
          <a:solidFill>
            <a:srgbClr val="6EE7B7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K-3-text-70"/>
          <p:cNvSpPr/>
          <p:nvPr/>
        </p:nvSpPr>
        <p:spPr>
          <a:xfrm>
            <a:off x="8404175" y="5700713"/>
            <a:ext cx="19285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TOUCH DISPLAY UI</a:t>
            </a:r>
            <a:endParaRPr lang="en-US" sz="90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4D00A21A-A427-BC08-761F-AF2B4FBF636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27470" y="119063"/>
            <a:ext cx="1347787" cy="13477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230"/>
            <a:ext cx="38100" cy="342900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79389"/>
            <a:ext cx="5410200" cy="1531441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164110"/>
            <a:ext cx="762000" cy="76200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050" y="2468910"/>
            <a:ext cx="190500" cy="15240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79389"/>
            <a:ext cx="5410200" cy="1531441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164110"/>
            <a:ext cx="762000" cy="76200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0850" y="2468910"/>
            <a:ext cx="190500" cy="15240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39430"/>
            <a:ext cx="5410200" cy="1531441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924151"/>
            <a:ext cx="762000" cy="76200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2050" y="4228951"/>
            <a:ext cx="190500" cy="15240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539430"/>
            <a:ext cx="5410200" cy="1531441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924151"/>
            <a:ext cx="762000" cy="7620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00850" y="4228951"/>
            <a:ext cx="190500" cy="15240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51872"/>
            <a:ext cx="11049000" cy="533400"/>
          </a:xfrm>
          <a:prstGeom prst="rect">
            <a:avLst/>
          </a:prstGeom>
        </p:spPr>
      </p:pic>
      <p:sp>
        <p:nvSpPr>
          <p:cNvPr id="18" name="SK-4-text-17"/>
          <p:cNvSpPr/>
          <p:nvPr/>
        </p:nvSpPr>
        <p:spPr>
          <a:xfrm>
            <a:off x="723900" y="381000"/>
            <a:ext cx="3291840" cy="411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kern="0" spc="-4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발전 방향</a:t>
            </a:r>
            <a:endParaRPr lang="en-US" sz="2700" dirty="0"/>
          </a:p>
        </p:txBody>
      </p:sp>
      <p:sp>
        <p:nvSpPr>
          <p:cNvPr id="20" name="SK-4-text-19"/>
          <p:cNvSpPr/>
          <p:nvPr/>
        </p:nvSpPr>
        <p:spPr>
          <a:xfrm>
            <a:off x="1866900" y="2084189"/>
            <a:ext cx="3810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자동정원 → 스마트팜</a:t>
            </a:r>
            <a:endParaRPr lang="en-US" sz="1800" dirty="0"/>
          </a:p>
        </p:txBody>
      </p:sp>
      <p:sp>
        <p:nvSpPr>
          <p:cNvPr id="21" name="SK-4-text-20"/>
          <p:cNvSpPr/>
          <p:nvPr/>
        </p:nvSpPr>
        <p:spPr>
          <a:xfrm>
            <a:off x="1866900" y="2457450"/>
            <a:ext cx="38100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식물 관리 시스템에서 대규모 스마트팜 인프라로 관리 범위 확장</a:t>
            </a:r>
            <a:endParaRPr lang="en-US" sz="1350" dirty="0"/>
          </a:p>
        </p:txBody>
      </p:sp>
      <p:sp>
        <p:nvSpPr>
          <p:cNvPr id="22" name="SK-4-text-21"/>
          <p:cNvSpPr/>
          <p:nvPr/>
        </p:nvSpPr>
        <p:spPr>
          <a:xfrm>
            <a:off x="7505700" y="2084189"/>
            <a:ext cx="3810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알고리즘 고도화</a:t>
            </a:r>
            <a:endParaRPr lang="en-US" sz="1800" dirty="0"/>
          </a:p>
        </p:txBody>
      </p:sp>
      <p:sp>
        <p:nvSpPr>
          <p:cNvPr id="23" name="SK-4-text-22"/>
          <p:cNvSpPr/>
          <p:nvPr/>
        </p:nvSpPr>
        <p:spPr>
          <a:xfrm>
            <a:off x="7505700" y="2457450"/>
            <a:ext cx="38100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 정밀도 향상 및 더욱 다양한 식물 질병·이상 패턴 학습</a:t>
            </a:r>
            <a:endParaRPr lang="en-US" sz="1350" dirty="0"/>
          </a:p>
        </p:txBody>
      </p:sp>
      <p:sp>
        <p:nvSpPr>
          <p:cNvPr id="24" name="SK-4-text-23"/>
          <p:cNvSpPr/>
          <p:nvPr/>
        </p:nvSpPr>
        <p:spPr>
          <a:xfrm>
            <a:off x="1866900" y="3844230"/>
            <a:ext cx="3810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스마트폰 알림 서비스</a:t>
            </a:r>
            <a:endParaRPr lang="en-US" sz="1800" dirty="0"/>
          </a:p>
        </p:txBody>
      </p:sp>
      <p:sp>
        <p:nvSpPr>
          <p:cNvPr id="25" name="SK-4-text-24"/>
          <p:cNvSpPr/>
          <p:nvPr/>
        </p:nvSpPr>
        <p:spPr>
          <a:xfrm>
            <a:off x="1866900" y="4217491"/>
            <a:ext cx="38100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감지 시 모바일 푸시 알림을 통한 실시간 모니터링 체계 구축</a:t>
            </a:r>
            <a:endParaRPr lang="en-US" sz="1350" dirty="0"/>
          </a:p>
        </p:txBody>
      </p:sp>
      <p:sp>
        <p:nvSpPr>
          <p:cNvPr id="26" name="SK-4-text-25"/>
          <p:cNvSpPr/>
          <p:nvPr/>
        </p:nvSpPr>
        <p:spPr>
          <a:xfrm>
            <a:off x="7505700" y="3844230"/>
            <a:ext cx="3810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맞춤형 급수</a:t>
            </a:r>
            <a:endParaRPr lang="en-US" sz="1800" dirty="0"/>
          </a:p>
        </p:txBody>
      </p:sp>
      <p:sp>
        <p:nvSpPr>
          <p:cNvPr id="27" name="SK-4-text-26"/>
          <p:cNvSpPr/>
          <p:nvPr/>
        </p:nvSpPr>
        <p:spPr>
          <a:xfrm>
            <a:off x="7505700" y="4217491"/>
            <a:ext cx="38100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식물 종류와 현재 상태 데이터에 근거한 AI 최적화 급수량 자동 조절</a:t>
            </a:r>
            <a:endParaRPr lang="en-US" sz="1350" dirty="0"/>
          </a:p>
        </p:txBody>
      </p:sp>
      <p:sp>
        <p:nvSpPr>
          <p:cNvPr id="28" name="SK-4-text-27"/>
          <p:cNvSpPr/>
          <p:nvPr/>
        </p:nvSpPr>
        <p:spPr>
          <a:xfrm>
            <a:off x="800100" y="5604272"/>
            <a:ext cx="1059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 기반의 정밀 제어를 통해 단순한 자동화를 넘어선 지능형 원예 생태계를 구축합니다."</a:t>
            </a:r>
            <a:endParaRPr lang="en-US" sz="12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9862B7F-8E1C-F5B1-16C4-F4D57F3F5AD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38457" y="106884"/>
            <a:ext cx="1582043" cy="1582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6725"/>
            <a:ext cx="38100" cy="342900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14475"/>
            <a:ext cx="3530650" cy="503872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24025"/>
            <a:ext cx="381000" cy="3810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8" y="1819275"/>
            <a:ext cx="238125" cy="1905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750" y="1514475"/>
            <a:ext cx="3530650" cy="5038725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450" y="1724025"/>
            <a:ext cx="381000" cy="3810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1819275"/>
            <a:ext cx="238125" cy="1905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9999" y="1514475"/>
            <a:ext cx="3530650" cy="5038725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699" y="1724025"/>
            <a:ext cx="381000" cy="3810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8137" y="1819275"/>
            <a:ext cx="238125" cy="1905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699" y="2286000"/>
            <a:ext cx="2997250" cy="904875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6699" y="3286125"/>
            <a:ext cx="2997250" cy="90487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699" y="4314825"/>
            <a:ext cx="2997250" cy="904875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6699" y="5314950"/>
            <a:ext cx="2997250" cy="904875"/>
          </a:xfrm>
          <a:prstGeom prst="rect">
            <a:avLst/>
          </a:prstGeom>
        </p:spPr>
      </p:pic>
      <p:sp>
        <p:nvSpPr>
          <p:cNvPr id="18" name="SK-5-text-17"/>
          <p:cNvSpPr/>
          <p:nvPr/>
        </p:nvSpPr>
        <p:spPr>
          <a:xfrm>
            <a:off x="723900" y="381000"/>
            <a:ext cx="246888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차후 개선점</a:t>
            </a:r>
            <a:endParaRPr lang="en-US" sz="2700" dirty="0"/>
          </a:p>
        </p:txBody>
      </p:sp>
      <p:sp>
        <p:nvSpPr>
          <p:cNvPr id="20" name="SK-5-text-19"/>
          <p:cNvSpPr/>
          <p:nvPr/>
        </p:nvSpPr>
        <p:spPr>
          <a:xfrm>
            <a:off x="1333500" y="1743075"/>
            <a:ext cx="246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및 환경</a:t>
            </a:r>
            <a:endParaRPr lang="en-US" sz="1800" dirty="0"/>
          </a:p>
        </p:txBody>
      </p:sp>
      <p:sp>
        <p:nvSpPr>
          <p:cNvPr id="21" name="SK-5-text-20"/>
          <p:cNvSpPr/>
          <p:nvPr/>
        </p:nvSpPr>
        <p:spPr>
          <a:xfrm>
            <a:off x="838200" y="2286000"/>
            <a:ext cx="2997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 DESIGN</a:t>
            </a:r>
            <a:endParaRPr lang="en-US" sz="1050" dirty="0"/>
          </a:p>
        </p:txBody>
      </p:sp>
      <p:sp>
        <p:nvSpPr>
          <p:cNvPr id="22" name="SK-5-text-21"/>
          <p:cNvSpPr/>
          <p:nvPr/>
        </p:nvSpPr>
        <p:spPr>
          <a:xfrm>
            <a:off x="838200" y="2514600"/>
            <a:ext cx="299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구조 및 설치 위치 최적화 고려, 외관 디자인 설계 고도화</a:t>
            </a:r>
            <a:endParaRPr lang="en-US" sz="1350" dirty="0"/>
          </a:p>
        </p:txBody>
      </p:sp>
      <p:sp>
        <p:nvSpPr>
          <p:cNvPr id="23" name="SK-5-text-22"/>
          <p:cNvSpPr/>
          <p:nvPr/>
        </p:nvSpPr>
        <p:spPr>
          <a:xfrm>
            <a:off x="838200" y="3215580"/>
            <a:ext cx="30403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TESTING ENVIRONMENT</a:t>
            </a:r>
            <a:endParaRPr lang="en-US" sz="1050" dirty="0"/>
          </a:p>
        </p:txBody>
      </p:sp>
      <p:sp>
        <p:nvSpPr>
          <p:cNvPr id="24" name="SK-5-text-23"/>
          <p:cNvSpPr/>
          <p:nvPr/>
        </p:nvSpPr>
        <p:spPr>
          <a:xfrm>
            <a:off x="838200" y="3444180"/>
            <a:ext cx="299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안정성 테스트 프로세스 구축 (개발 기간 한계 극복)</a:t>
            </a:r>
            <a:endParaRPr lang="en-US" sz="1350" dirty="0"/>
          </a:p>
        </p:txBody>
      </p:sp>
      <p:sp>
        <p:nvSpPr>
          <p:cNvPr id="25" name="SK-5-text-24"/>
          <p:cNvSpPr/>
          <p:nvPr/>
        </p:nvSpPr>
        <p:spPr>
          <a:xfrm>
            <a:off x="838200" y="4145161"/>
            <a:ext cx="2997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 CALIBRATION</a:t>
            </a:r>
            <a:endParaRPr lang="en-US" sz="1050" dirty="0"/>
          </a:p>
        </p:txBody>
      </p:sp>
      <p:sp>
        <p:nvSpPr>
          <p:cNvPr id="26" name="SK-5-text-25"/>
          <p:cNvSpPr/>
          <p:nvPr/>
        </p:nvSpPr>
        <p:spPr>
          <a:xfrm>
            <a:off x="838200" y="4373761"/>
            <a:ext cx="2997250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% 단위로 환산한 아두이노 RAW 데이터를 실제 화분 흙 상태에 맞게 보정</a:t>
            </a:r>
            <a:endParaRPr lang="en-US" sz="1350" dirty="0"/>
          </a:p>
        </p:txBody>
      </p:sp>
      <p:sp>
        <p:nvSpPr>
          <p:cNvPr id="27" name="SK-5-text-26"/>
          <p:cNvSpPr/>
          <p:nvPr/>
        </p:nvSpPr>
        <p:spPr>
          <a:xfrm>
            <a:off x="5092750" y="1743075"/>
            <a:ext cx="246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 최적화</a:t>
            </a:r>
            <a:endParaRPr lang="en-US" sz="1800" dirty="0"/>
          </a:p>
        </p:txBody>
      </p:sp>
      <p:sp>
        <p:nvSpPr>
          <p:cNvPr id="28" name="SK-5-text-27"/>
          <p:cNvSpPr/>
          <p:nvPr/>
        </p:nvSpPr>
        <p:spPr>
          <a:xfrm>
            <a:off x="4597450" y="2286000"/>
            <a:ext cx="30403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MANAGEMENT</a:t>
            </a:r>
            <a:endParaRPr lang="en-US" sz="1050" dirty="0"/>
          </a:p>
        </p:txBody>
      </p:sp>
      <p:sp>
        <p:nvSpPr>
          <p:cNvPr id="29" name="SK-5-text-28"/>
          <p:cNvSpPr/>
          <p:nvPr/>
        </p:nvSpPr>
        <p:spPr>
          <a:xfrm>
            <a:off x="4597450" y="2514600"/>
            <a:ext cx="299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2GB RAM 환경에서의 OS, YOLO 추론, 브라우저 동시 운용 최적화</a:t>
            </a:r>
            <a:endParaRPr lang="en-US" sz="1350" dirty="0"/>
          </a:p>
        </p:txBody>
      </p:sp>
      <p:sp>
        <p:nvSpPr>
          <p:cNvPr id="30" name="SK-5-text-29"/>
          <p:cNvSpPr/>
          <p:nvPr/>
        </p:nvSpPr>
        <p:spPr>
          <a:xfrm>
            <a:off x="4597450" y="3215580"/>
            <a:ext cx="2997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LOGIC</a:t>
            </a:r>
            <a:endParaRPr lang="en-US" sz="1050" dirty="0"/>
          </a:p>
        </p:txBody>
      </p:sp>
      <p:sp>
        <p:nvSpPr>
          <p:cNvPr id="31" name="SK-5-text-30"/>
          <p:cNvSpPr/>
          <p:nvPr/>
        </p:nvSpPr>
        <p:spPr>
          <a:xfrm>
            <a:off x="4597450" y="3444180"/>
            <a:ext cx="299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식물 상태에 따른 적절한 급수 임계점(Threshold) 정밀 설정</a:t>
            </a:r>
            <a:endParaRPr lang="en-US" sz="1350" dirty="0"/>
          </a:p>
        </p:txBody>
      </p:sp>
      <p:sp>
        <p:nvSpPr>
          <p:cNvPr id="32" name="SK-5-text-31"/>
          <p:cNvSpPr/>
          <p:nvPr/>
        </p:nvSpPr>
        <p:spPr>
          <a:xfrm>
            <a:off x="4597450" y="4145161"/>
            <a:ext cx="2997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INTEGRATION</a:t>
            </a:r>
            <a:endParaRPr lang="en-US" sz="1050" dirty="0"/>
          </a:p>
        </p:txBody>
      </p:sp>
      <p:sp>
        <p:nvSpPr>
          <p:cNvPr id="33" name="SK-5-text-32"/>
          <p:cNvSpPr/>
          <p:nvPr/>
        </p:nvSpPr>
        <p:spPr>
          <a:xfrm>
            <a:off x="4597450" y="4373761"/>
            <a:ext cx="299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탐지 모델의 위양성 방지를 통한 불필요한 클라우드 호출 최소화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8851999" y="1743075"/>
            <a:ext cx="30175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버그 해결 방안</a:t>
            </a:r>
            <a:endParaRPr lang="en-US" sz="1800" dirty="0"/>
          </a:p>
        </p:txBody>
      </p:sp>
      <p:sp>
        <p:nvSpPr>
          <p:cNvPr id="35" name="SK-5-textBg-34"/>
          <p:cNvSpPr/>
          <p:nvPr/>
        </p:nvSpPr>
        <p:spPr>
          <a:xfrm>
            <a:off x="8509099" y="2419350"/>
            <a:ext cx="447675" cy="180975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K-5-text-35"/>
          <p:cNvSpPr/>
          <p:nvPr/>
        </p:nvSpPr>
        <p:spPr>
          <a:xfrm>
            <a:off x="8566249" y="2419350"/>
            <a:ext cx="51070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</a:t>
            </a:r>
            <a:endParaRPr lang="en-US" sz="900" dirty="0"/>
          </a:p>
        </p:txBody>
      </p:sp>
      <p:sp>
        <p:nvSpPr>
          <p:cNvPr id="37" name="SK-5-text-36"/>
          <p:cNvSpPr/>
          <p:nvPr/>
        </p:nvSpPr>
        <p:spPr>
          <a:xfrm>
            <a:off x="8509099" y="2638425"/>
            <a:ext cx="269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 잎 개수 인식 변화에 따른 불필요한 API 호출</a:t>
            </a:r>
            <a:endParaRPr lang="en-US" sz="1200" dirty="0"/>
          </a:p>
        </p:txBody>
      </p:sp>
      <p:sp>
        <p:nvSpPr>
          <p:cNvPr id="38" name="SK-5-textBg-37"/>
          <p:cNvSpPr/>
          <p:nvPr/>
        </p:nvSpPr>
        <p:spPr>
          <a:xfrm>
            <a:off x="8509099" y="3419475"/>
            <a:ext cx="295275" cy="180975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K-5-text-38"/>
          <p:cNvSpPr/>
          <p:nvPr/>
        </p:nvSpPr>
        <p:spPr>
          <a:xfrm>
            <a:off x="8566249" y="3419475"/>
            <a:ext cx="25219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</a:t>
            </a:r>
            <a:endParaRPr lang="en-US" sz="900" dirty="0"/>
          </a:p>
        </p:txBody>
      </p:sp>
      <p:sp>
        <p:nvSpPr>
          <p:cNvPr id="40" name="SK-5-text-39"/>
          <p:cNvSpPr/>
          <p:nvPr/>
        </p:nvSpPr>
        <p:spPr>
          <a:xfrm>
            <a:off x="8509099" y="3638550"/>
            <a:ext cx="269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탐지 모델 정확도 고도화 및 변화 감지 로직 강화</a:t>
            </a:r>
            <a:endParaRPr lang="en-US" sz="1200" dirty="0"/>
          </a:p>
        </p:txBody>
      </p:sp>
      <p:sp>
        <p:nvSpPr>
          <p:cNvPr id="41" name="SK-5-textBg-40"/>
          <p:cNvSpPr/>
          <p:nvPr/>
        </p:nvSpPr>
        <p:spPr>
          <a:xfrm>
            <a:off x="8509099" y="4448175"/>
            <a:ext cx="447675" cy="180975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K-5-text-41"/>
          <p:cNvSpPr/>
          <p:nvPr/>
        </p:nvSpPr>
        <p:spPr>
          <a:xfrm>
            <a:off x="8566249" y="4448175"/>
            <a:ext cx="51070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</a:t>
            </a:r>
            <a:endParaRPr lang="en-US" sz="900" dirty="0"/>
          </a:p>
        </p:txBody>
      </p:sp>
      <p:sp>
        <p:nvSpPr>
          <p:cNvPr id="43" name="SK-5-text-42"/>
          <p:cNvSpPr/>
          <p:nvPr/>
        </p:nvSpPr>
        <p:spPr>
          <a:xfrm>
            <a:off x="8509099" y="4667250"/>
            <a:ext cx="269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삭제 시 DB 분석 데이터가 함께 유실되는 충돌</a:t>
            </a:r>
            <a:endParaRPr lang="en-US" sz="1200" dirty="0"/>
          </a:p>
        </p:txBody>
      </p:sp>
      <p:sp>
        <p:nvSpPr>
          <p:cNvPr id="44" name="SK-5-textBg-43"/>
          <p:cNvSpPr/>
          <p:nvPr/>
        </p:nvSpPr>
        <p:spPr>
          <a:xfrm>
            <a:off x="8509099" y="5448300"/>
            <a:ext cx="295275" cy="180975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K-5-text-44"/>
          <p:cNvSpPr/>
          <p:nvPr/>
        </p:nvSpPr>
        <p:spPr>
          <a:xfrm>
            <a:off x="8566249" y="5448300"/>
            <a:ext cx="25219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</a:t>
            </a:r>
            <a:endParaRPr lang="en-US" sz="900" dirty="0"/>
          </a:p>
        </p:txBody>
      </p:sp>
      <p:sp>
        <p:nvSpPr>
          <p:cNvPr id="46" name="SK-5-text-45"/>
          <p:cNvSpPr/>
          <p:nvPr/>
        </p:nvSpPr>
        <p:spPr>
          <a:xfrm>
            <a:off x="8509099" y="5667375"/>
            <a:ext cx="269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스토리지 관리 로직과 DB 입출력 프로세스 분리</a:t>
            </a:r>
            <a:endParaRPr lang="en-US" sz="12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7127B71C-FD12-593F-B682-A16B84EBCA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3734" y="120157"/>
            <a:ext cx="1314366" cy="1314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6725"/>
            <a:ext cx="38100" cy="342900"/>
          </a:xfrm>
          <a:prstGeom prst="rect">
            <a:avLst/>
          </a:prstGeom>
        </p:spPr>
      </p:pic>
      <p:sp>
        <p:nvSpPr>
          <p:cNvPr id="5" name="SK-6-text-4"/>
          <p:cNvSpPr/>
          <p:nvPr/>
        </p:nvSpPr>
        <p:spPr>
          <a:xfrm>
            <a:off x="723900" y="381000"/>
            <a:ext cx="589788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2700" b="1" kern="0" spc="-4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24H Beta Test</a:t>
            </a:r>
            <a:endParaRPr lang="en-US" sz="27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17F3C6-B293-691B-98BA-80E205EB2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9760"/>
            <a:ext cx="3225776" cy="342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049E13-9E62-AB3C-D32E-AD3F95A16E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8519"/>
          <a:stretch>
            <a:fillRect/>
          </a:stretch>
        </p:blipFill>
        <p:spPr>
          <a:xfrm>
            <a:off x="3904686" y="3189941"/>
            <a:ext cx="7495761" cy="4781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EE92C8F-C812-A706-4B26-0C8EC11778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t="41221" r="38519"/>
          <a:stretch>
            <a:fillRect/>
          </a:stretch>
        </p:blipFill>
        <p:spPr>
          <a:xfrm>
            <a:off x="3904685" y="4085291"/>
            <a:ext cx="7495761" cy="665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3AC736A-4300-B432-D29D-E783CB24BA2E}"/>
                  </a:ext>
                </a:extLst>
              </p14:cNvPr>
              <p14:cNvContentPartPr/>
              <p14:nvPr/>
            </p14:nvContentPartPr>
            <p14:xfrm>
              <a:off x="3955566" y="4687105"/>
              <a:ext cx="2917080" cy="1044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3AC736A-4300-B432-D29D-E783CB24BA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9446" y="4681189"/>
                <a:ext cx="2929320" cy="22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7D50CEA-063A-32BB-EEC7-00211A925015}"/>
                  </a:ext>
                </a:extLst>
              </p14:cNvPr>
              <p14:cNvContentPartPr/>
              <p14:nvPr/>
            </p14:nvContentPartPr>
            <p14:xfrm>
              <a:off x="3901011" y="3613457"/>
              <a:ext cx="2883240" cy="97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7D50CEA-063A-32BB-EEC7-00211A9250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94891" y="3607337"/>
                <a:ext cx="2895480" cy="2196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28FEA6AF-555A-725A-4E66-AAFE058F91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8990" y="522702"/>
            <a:ext cx="1934110" cy="1934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230"/>
            <a:ext cx="38100" cy="342900"/>
          </a:xfrm>
          <a:prstGeom prst="rect">
            <a:avLst/>
          </a:prstGeom>
        </p:spPr>
      </p:pic>
      <p:sp>
        <p:nvSpPr>
          <p:cNvPr id="5" name="SK-7-text-4"/>
          <p:cNvSpPr/>
          <p:nvPr/>
        </p:nvSpPr>
        <p:spPr>
          <a:xfrm>
            <a:off x="723900" y="381000"/>
            <a:ext cx="5897880" cy="411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kern="0" spc="-4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24H Beta Test</a:t>
            </a:r>
            <a:endParaRPr lang="en-US" sz="27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C30E04-2CF1-B8C3-B574-98D01A59B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09619"/>
            <a:ext cx="5367992" cy="192021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4C14D8B-F5DE-0E65-627B-08944CB40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90494"/>
            <a:ext cx="5367992" cy="18351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E4513DE-1D67-993A-B511-BBD2DD845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067165"/>
            <a:ext cx="5367992" cy="183930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DFC6947-1038-2FF1-8FC3-EF5AB770B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4788" y="2415940"/>
            <a:ext cx="4680016" cy="26325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69D0329F-FABB-9923-862C-D21433505C4C}"/>
                  </a:ext>
                </a:extLst>
              </p14:cNvPr>
              <p14:cNvContentPartPr/>
              <p14:nvPr/>
            </p14:nvContentPartPr>
            <p14:xfrm>
              <a:off x="5224731" y="1131977"/>
              <a:ext cx="360" cy="36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69D0329F-FABB-9923-862C-D21433505C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18611" y="112585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6716637-041D-4EA7-ADCE-E1735558DBBF}"/>
                  </a:ext>
                </a:extLst>
              </p14:cNvPr>
              <p14:cNvContentPartPr/>
              <p14:nvPr/>
            </p14:nvContentPartPr>
            <p14:xfrm>
              <a:off x="5224731" y="1091696"/>
              <a:ext cx="708862" cy="5593242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6716637-041D-4EA7-ADCE-E1735558DB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18611" y="1085576"/>
                <a:ext cx="721102" cy="5605482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그림 30">
            <a:extLst>
              <a:ext uri="{FF2B5EF4-FFF2-40B4-BE49-F238E27FC236}">
                <a16:creationId xmlns:a16="http://schemas.microsoft.com/office/drawing/2014/main" id="{8AE03D21-2A2D-FF9E-D1F5-BCA1ED3AF7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8322" y="606389"/>
            <a:ext cx="1537805" cy="1537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417</Words>
  <Application>Microsoft Office PowerPoint</Application>
  <PresentationFormat>와이드스크린</PresentationFormat>
  <Paragraphs>102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남기현</cp:lastModifiedBy>
  <cp:revision>14</cp:revision>
  <dcterms:created xsi:type="dcterms:W3CDTF">2026-05-28T05:49:20Z</dcterms:created>
  <dcterms:modified xsi:type="dcterms:W3CDTF">2026-05-28T07:06:38Z</dcterms:modified>
</cp:coreProperties>
</file>